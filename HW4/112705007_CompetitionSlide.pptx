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9AF422-4F1F-01A2-D630-555B58D91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6DB325-8D0A-D8C4-8E13-011C0E195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F88F10-F6A3-E88A-227B-65E1645A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5F1A21-86F2-893C-67E2-25286FC9D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47700A-062F-C0A5-4769-58C95E8B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411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8E06F8-EF78-BB85-1C77-ED34300B5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AE79CE-A408-EB1E-475E-CC27FA38F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F55487-F686-AE89-C4FB-277A13C04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F8BBD0-09E8-8858-F112-25DDD7F3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0647CF-2308-AA71-96FA-5B9CD66E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756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D015A6-A8C6-99F1-74E0-6464CA894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98479C-1175-BD97-95EA-B7E3FCBB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6C51AA-D9B2-C110-F0D9-6162249E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33F96E-CD71-7B50-1FE2-69C6EF79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867137-3BFB-DED2-FDEB-8DB2BF02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1870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A605DB-768B-F290-0B80-E9133282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BCF2EA-99CC-E1C8-F334-A584C28C9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93827CA-2B83-D9AC-0FBE-4089FF36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839E6C-AE38-79E6-76D2-E272A703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888156-9149-3BB7-7283-E7EE8F3C6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219F31-1B78-6593-5BD3-5B2D62CC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4567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6BEE84-7DB9-7B4A-E208-13815776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525EB0-36C1-3B6F-55BD-D38BA2EC2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E569D9-992F-E1B1-50DB-64204035F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98576EE-02C8-52A9-49F2-11F26112E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4795168-F9BF-A534-FE41-81CF0D8737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75B5E8B-F41E-BFF0-F04C-9A1AFED4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E4D62BC-C0D4-6452-8D1C-20FAFD0B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28B52FE-19C4-22F4-35FB-F5712B5F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24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A2402-531D-1D34-CF09-B8FA25B3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078DD9A-4AC3-EBCE-D8F6-2FF1A99A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A5BD2C9-7750-6C02-21B7-4C834089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25D1603-28B9-18E8-A761-A4D97AEC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673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70849CC-ABD9-928F-6A21-E2F1CD01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172FA2E-407D-8F16-11AC-9DA7741B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2618F0-1D12-98ED-AEAE-4DE3D6FB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90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BB99ED-DBCD-6267-CFAC-380B75BDA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7527DB-BCF1-1CF5-028B-01263D82D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F197D1E-A22C-580E-1573-9F82EE212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C3EA13-2EA5-8E21-1573-A5574A239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4AF2B0C-5A10-AEAA-A8AC-4AC22130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B02ACC-FB7F-60F9-8D3B-A08132BF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320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8CC98B-FC7C-6788-269D-613054032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9D2B171-15B6-49F9-628E-8586D9035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B17729-1DBF-6EE2-61A2-0C8F999A8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6CC53E-F768-2D6A-D8C2-AAD106B6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058753-43A2-2147-C604-9448EEE08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061438-F29A-B32A-E93E-2BB714BA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52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41BC7-E68F-2B4B-5A3A-79F5CA74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8CF9C3-1C28-E7E5-5E30-A55840B8E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1A2B5B-1823-E25E-9B80-0C2F845E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8D51E0-9BD4-88CA-D7B6-567B9865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0B0E90-FDAC-8BDB-EBA8-FAE675DA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8624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D729D54-C41D-66AB-A87E-1DD1910A1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3166D65-836A-E74A-25C0-7ACA6E236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CDEF08-E401-7DD2-FCD3-F1EE37503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0A7602-42C7-FA63-2161-CFEF3914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60502B-A04F-5F63-F58C-B8607CAD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11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2B1FD28-4895-FC36-84FB-B69486266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DE6133-9E82-1293-6DB0-9218AC44B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D7181D-ACFD-BD7A-E8DE-B85021134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84BB8-FB70-4AD0-87B8-05EFE570AA2F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8320DF-2A36-30C4-FDEB-794B92010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4DFEB2-9E7C-FE2B-00EB-C6BBB7DC8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4A2B6-B0CF-4B31-A724-0C63EA1A51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64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2E6367-99F9-9231-75A5-0F65A8EC6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79" y="52503"/>
            <a:ext cx="10205258" cy="98907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Data Processing &amp; Preprocessing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5F5B13A-F8D7-FF9F-42EE-74D88AC33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151" y="1174721"/>
            <a:ext cx="11285913" cy="5566900"/>
          </a:xfrm>
        </p:spPr>
        <p:txBody>
          <a:bodyPr/>
          <a:lstStyle/>
          <a:p>
            <a:pPr algn="l"/>
            <a:r>
              <a:rPr lang="en-US" altLang="zh-TW" b="1" dirty="0"/>
              <a:t>Dataset description:</a:t>
            </a:r>
            <a:r>
              <a:rPr lang="zh-TW" altLang="en-US" b="1" dirty="0"/>
              <a:t> </a:t>
            </a:r>
            <a:r>
              <a:rPr lang="en-US" altLang="zh-TW" dirty="0"/>
              <a:t>Binary image classification</a:t>
            </a:r>
          </a:p>
          <a:p>
            <a:pPr algn="l"/>
            <a:r>
              <a:rPr lang="en-US" altLang="zh-TW" dirty="0"/>
              <a:t>	Class 0: Real (human-generated)</a:t>
            </a:r>
            <a:r>
              <a:rPr lang="zh-TW" altLang="en-US" dirty="0"/>
              <a:t>，</a:t>
            </a:r>
            <a:r>
              <a:rPr lang="en-US" altLang="zh-TW" dirty="0"/>
              <a:t>Class 1: AI-generated</a:t>
            </a:r>
          </a:p>
          <a:p>
            <a:pPr algn="l"/>
            <a:r>
              <a:rPr lang="en-US" altLang="zh-TW" b="1" dirty="0"/>
              <a:t>Image Preprocessing:</a:t>
            </a:r>
          </a:p>
          <a:p>
            <a:pPr algn="l"/>
            <a:r>
              <a:rPr lang="en-US" altLang="zh-TW" dirty="0"/>
              <a:t>	Resize all images to 380 × 380 to match EfficientNet-B4 input size </a:t>
            </a:r>
          </a:p>
          <a:p>
            <a:pPr algn="l"/>
            <a:r>
              <a:rPr lang="en-US" altLang="zh-TW" dirty="0"/>
              <a:t>	Convert images to RGB format and Normalize mean and standard deviation</a:t>
            </a:r>
          </a:p>
          <a:p>
            <a:pPr algn="l"/>
            <a:r>
              <a:rPr lang="en-US" altLang="zh-TW" b="1" dirty="0"/>
              <a:t>Data Augmentation(Training):</a:t>
            </a:r>
          </a:p>
          <a:p>
            <a:pPr algn="l"/>
            <a:r>
              <a:rPr lang="en-US" altLang="zh-TW" dirty="0"/>
              <a:t>	Random horizontal flipping </a:t>
            </a:r>
          </a:p>
          <a:p>
            <a:pPr algn="l"/>
            <a:r>
              <a:rPr lang="en-US" altLang="zh-TW" dirty="0"/>
              <a:t>	Mild rotations for robustness</a:t>
            </a:r>
          </a:p>
          <a:p>
            <a:pPr algn="l"/>
            <a:r>
              <a:rPr lang="en-US" altLang="zh-TW" b="1" dirty="0"/>
              <a:t>Semi-supervised learning with unlabeled data</a:t>
            </a:r>
          </a:p>
          <a:p>
            <a:pPr algn="l"/>
            <a:r>
              <a:rPr lang="en-US" altLang="zh-TW" dirty="0"/>
              <a:t>	Used model predictions to generate pseudo-labels for unlabeled images </a:t>
            </a:r>
          </a:p>
          <a:p>
            <a:pPr algn="l"/>
            <a:r>
              <a:rPr lang="en-US" altLang="zh-TW" dirty="0"/>
              <a:t>	Only samples with high confidence (≥ 0.99) were selected </a:t>
            </a:r>
          </a:p>
          <a:p>
            <a:pPr algn="l"/>
            <a:r>
              <a:rPr lang="en-US" altLang="zh-TW" dirty="0"/>
              <a:t>	Pseudo-labeled samples were combined with original training data</a:t>
            </a:r>
          </a:p>
          <a:p>
            <a:pPr algn="l"/>
            <a:endParaRPr lang="zh-TW" altLang="en-US" dirty="0"/>
          </a:p>
        </p:txBody>
      </p:sp>
      <p:pic>
        <p:nvPicPr>
          <p:cNvPr id="10" name="圖片 9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B97C3E78-F9FE-FC69-4515-0DA338DEF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279" y="3487189"/>
            <a:ext cx="3051230" cy="1617861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4CDD623-CB68-F2F3-DB94-0961080CE352}"/>
              </a:ext>
            </a:extLst>
          </p:cNvPr>
          <p:cNvSpPr txBox="1"/>
          <p:nvPr/>
        </p:nvSpPr>
        <p:spPr>
          <a:xfrm>
            <a:off x="10341031" y="6466943"/>
            <a:ext cx="2244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112705007 </a:t>
            </a:r>
            <a:r>
              <a:rPr lang="zh-TW" altLang="en-US" sz="1600" dirty="0"/>
              <a:t>解孟修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704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B3471-98D2-855F-7623-6F5FF9A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DD33BB-C4FA-BD62-5ADB-07CC66FBC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79" y="52503"/>
            <a:ext cx="10205258" cy="989070"/>
          </a:xfrm>
        </p:spPr>
        <p:txBody>
          <a:bodyPr>
            <a:normAutofit/>
          </a:bodyPr>
          <a:lstStyle/>
          <a:p>
            <a:r>
              <a:rPr lang="en-US" altLang="zh-TW" dirty="0"/>
              <a:t>Model Architecture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BD054F0-A329-C807-4A2B-837251ED8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340" y="1099906"/>
            <a:ext cx="11285913" cy="5566900"/>
          </a:xfrm>
        </p:spPr>
        <p:txBody>
          <a:bodyPr>
            <a:normAutofit/>
          </a:bodyPr>
          <a:lstStyle/>
          <a:p>
            <a:pPr algn="l"/>
            <a:r>
              <a:rPr lang="en-US" altLang="zh-TW" b="1" dirty="0"/>
              <a:t>Backbone selection:</a:t>
            </a:r>
            <a:r>
              <a:rPr lang="zh-TW" altLang="en-US" b="1" dirty="0"/>
              <a:t> </a:t>
            </a:r>
            <a:endParaRPr lang="en-US" altLang="zh-TW" b="1" dirty="0"/>
          </a:p>
          <a:p>
            <a:pPr algn="l"/>
            <a:r>
              <a:rPr lang="en-US" altLang="zh-TW" dirty="0"/>
              <a:t>	EfficientNet-B4 (pretrained on ImageNet) </a:t>
            </a:r>
            <a:r>
              <a:rPr lang="zh-TW" altLang="en-US" dirty="0"/>
              <a:t>，</a:t>
            </a:r>
            <a:r>
              <a:rPr lang="en-US" altLang="zh-TW" dirty="0"/>
              <a:t>Chosen for its strong ability to 	capture fine-grained textures and frequency patterns</a:t>
            </a:r>
          </a:p>
          <a:p>
            <a:pPr algn="l"/>
            <a:r>
              <a:rPr lang="en-US" altLang="zh-TW" b="1" dirty="0"/>
              <a:t>Architecture modification:</a:t>
            </a:r>
          </a:p>
          <a:p>
            <a:pPr algn="l"/>
            <a:r>
              <a:rPr lang="en-US" altLang="zh-TW" dirty="0"/>
              <a:t>	Replaced the final classifier layer with a 2-class linear layer </a:t>
            </a:r>
          </a:p>
          <a:p>
            <a:pPr algn="l"/>
            <a:r>
              <a:rPr lang="en-US" altLang="zh-TW" dirty="0"/>
              <a:t>	Output: {Real, AI-generated}</a:t>
            </a:r>
          </a:p>
          <a:p>
            <a:pPr algn="l"/>
            <a:r>
              <a:rPr lang="en-US" altLang="zh-TW" b="1" dirty="0"/>
              <a:t>Fine-tuning strategy:</a:t>
            </a:r>
          </a:p>
          <a:p>
            <a:pPr algn="l"/>
            <a:r>
              <a:rPr lang="en-US" altLang="zh-TW" dirty="0"/>
              <a:t>	Freeze most backbone parameters </a:t>
            </a:r>
          </a:p>
          <a:p>
            <a:pPr algn="l"/>
            <a:r>
              <a:rPr lang="en-US" altLang="zh-TW" dirty="0"/>
              <a:t>	Unfreeze classifier (and optionally last block) for fine-tuning</a:t>
            </a:r>
          </a:p>
          <a:p>
            <a:pPr algn="l"/>
            <a:r>
              <a:rPr lang="en-US" altLang="zh-TW" b="1" dirty="0"/>
              <a:t>Performance improvement:</a:t>
            </a:r>
          </a:p>
          <a:p>
            <a:pPr algn="l"/>
            <a:r>
              <a:rPr lang="en-US" altLang="zh-TW" dirty="0"/>
              <a:t>	EfficientNet-B4 significantly outperformed </a:t>
            </a:r>
            <a:r>
              <a:rPr lang="en-US" altLang="zh-TW" dirty="0" err="1"/>
              <a:t>ResNet</a:t>
            </a:r>
            <a:r>
              <a:rPr lang="en-US" altLang="zh-TW" dirty="0"/>
              <a:t>-based models </a:t>
            </a:r>
          </a:p>
          <a:p>
            <a:pPr algn="l"/>
            <a:r>
              <a:rPr lang="en-US" altLang="zh-TW" dirty="0"/>
              <a:t>	Higher public F1 score due to better feature representation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ED5899C-768F-5243-FD23-842CE7D6436D}"/>
              </a:ext>
            </a:extLst>
          </p:cNvPr>
          <p:cNvSpPr txBox="1"/>
          <p:nvPr/>
        </p:nvSpPr>
        <p:spPr>
          <a:xfrm>
            <a:off x="10341031" y="6466943"/>
            <a:ext cx="2244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112705007 </a:t>
            </a:r>
            <a:r>
              <a:rPr lang="zh-TW" altLang="en-US" sz="1600" dirty="0"/>
              <a:t>解孟修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379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98115-A5CC-8CE2-B33D-906C1F9AC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2BD3DC-F400-DD12-2187-79D082BA9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206" y="124690"/>
            <a:ext cx="10745585" cy="98907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Training Strategy &amp; Performance Boost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978E410-C84A-B66E-6851-BD0CDCF0E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446" y="1340976"/>
            <a:ext cx="11477107" cy="5392334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TW" b="1" dirty="0"/>
              <a:t>Training setup:</a:t>
            </a:r>
            <a:r>
              <a:rPr lang="zh-TW" altLang="en-US" b="1" dirty="0"/>
              <a:t> </a:t>
            </a:r>
            <a:endParaRPr lang="en-US" altLang="zh-TW" b="1" dirty="0"/>
          </a:p>
          <a:p>
            <a:pPr algn="l"/>
            <a:r>
              <a:rPr lang="en-US" altLang="zh-TW" dirty="0"/>
              <a:t>	Loss function: Cross-Entropy Loss </a:t>
            </a:r>
          </a:p>
          <a:p>
            <a:pPr algn="l"/>
            <a:r>
              <a:rPr lang="en-US" altLang="zh-TW" dirty="0"/>
              <a:t>	Optimizer: Adam / </a:t>
            </a:r>
            <a:r>
              <a:rPr lang="en-US" altLang="zh-TW" dirty="0" err="1"/>
              <a:t>AdamW</a:t>
            </a:r>
            <a:r>
              <a:rPr lang="en-US" altLang="zh-TW" dirty="0"/>
              <a:t> </a:t>
            </a:r>
          </a:p>
          <a:p>
            <a:pPr algn="l"/>
            <a:r>
              <a:rPr lang="en-US" altLang="zh-TW" dirty="0"/>
              <a:t>	Batch size: adjusted for GPU memory </a:t>
            </a:r>
          </a:p>
          <a:p>
            <a:pPr algn="l"/>
            <a:r>
              <a:rPr lang="en-US" altLang="zh-TW" dirty="0"/>
              <a:t>	Training on GPU</a:t>
            </a:r>
          </a:p>
          <a:p>
            <a:pPr algn="l"/>
            <a:r>
              <a:rPr lang="en-US" altLang="zh-TW" b="1" dirty="0"/>
              <a:t>Semi-supervised training:</a:t>
            </a:r>
          </a:p>
          <a:p>
            <a:pPr algn="l"/>
            <a:r>
              <a:rPr lang="en-US" altLang="zh-TW" dirty="0"/>
              <a:t>	Generated pseudo-labels from unlabeled data </a:t>
            </a:r>
          </a:p>
          <a:p>
            <a:pPr algn="l"/>
            <a:r>
              <a:rPr lang="en-US" altLang="zh-TW" dirty="0"/>
              <a:t>	Only high-confidence predictions (≥ 0.99) were used </a:t>
            </a:r>
          </a:p>
          <a:p>
            <a:pPr algn="l"/>
            <a:r>
              <a:rPr lang="en-US" altLang="zh-TW" dirty="0"/>
              <a:t>	Combined labeled and pseudo-labeled data for final training</a:t>
            </a:r>
          </a:p>
          <a:p>
            <a:pPr algn="l"/>
            <a:r>
              <a:rPr lang="en-US" altLang="zh-TW" b="1" dirty="0"/>
              <a:t>Test-Time Augmentation:</a:t>
            </a:r>
          </a:p>
          <a:p>
            <a:pPr algn="l"/>
            <a:r>
              <a:rPr lang="en-US" altLang="zh-TW" dirty="0"/>
              <a:t>	Applied horizontal flip (and rotation) during inference </a:t>
            </a:r>
          </a:p>
          <a:p>
            <a:pPr algn="l"/>
            <a:r>
              <a:rPr lang="en-US" altLang="zh-TW" dirty="0"/>
              <a:t>	Averaged predictions across augmented versions	</a:t>
            </a:r>
          </a:p>
          <a:p>
            <a:pPr algn="l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E1364F7-F893-6FB2-1D96-62EE72D7C094}"/>
              </a:ext>
            </a:extLst>
          </p:cNvPr>
          <p:cNvSpPr txBox="1"/>
          <p:nvPr/>
        </p:nvSpPr>
        <p:spPr>
          <a:xfrm>
            <a:off x="10341031" y="6466943"/>
            <a:ext cx="2244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112705007 </a:t>
            </a:r>
            <a:r>
              <a:rPr lang="zh-TW" altLang="en-US" sz="1600" dirty="0"/>
              <a:t>解孟修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4234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18F2095-1FA7-581F-F512-DFBA85EC0B32}"/>
              </a:ext>
            </a:extLst>
          </p:cNvPr>
          <p:cNvSpPr txBox="1"/>
          <p:nvPr/>
        </p:nvSpPr>
        <p:spPr>
          <a:xfrm>
            <a:off x="10341031" y="6466943"/>
            <a:ext cx="2244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112705007 </a:t>
            </a:r>
            <a:r>
              <a:rPr lang="zh-TW" altLang="en-US" sz="1600" dirty="0"/>
              <a:t>解孟修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D900300-E50E-6F88-32B8-1AE90A22664C}"/>
              </a:ext>
            </a:extLst>
          </p:cNvPr>
          <p:cNvSpPr txBox="1">
            <a:spLocks/>
          </p:cNvSpPr>
          <p:nvPr/>
        </p:nvSpPr>
        <p:spPr>
          <a:xfrm>
            <a:off x="717664" y="448886"/>
            <a:ext cx="10745585" cy="98907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Appendix</a:t>
            </a:r>
            <a:endParaRPr lang="zh-TW" altLang="en-US" dirty="0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225B869-367F-FA7D-8A01-290D382D4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8" y="1437956"/>
            <a:ext cx="11114116" cy="41098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85413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284</Words>
  <Application>Microsoft Office PowerPoint</Application>
  <PresentationFormat>寬螢幕</PresentationFormat>
  <Paragraphs>43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Data Processing &amp; Preprocessing</vt:lpstr>
      <vt:lpstr>Model Architecture</vt:lpstr>
      <vt:lpstr>Training Strategy &amp; Performance Boost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孟修 解</dc:creator>
  <cp:lastModifiedBy>孟修 解</cp:lastModifiedBy>
  <cp:revision>1</cp:revision>
  <dcterms:created xsi:type="dcterms:W3CDTF">2025-12-14T03:03:34Z</dcterms:created>
  <dcterms:modified xsi:type="dcterms:W3CDTF">2025-12-14T03:49:17Z</dcterms:modified>
</cp:coreProperties>
</file>